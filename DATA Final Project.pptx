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1" r:id="rId3"/>
    <p:sldId id="257" r:id="rId4"/>
    <p:sldId id="284" r:id="rId5"/>
    <p:sldId id="266" r:id="rId6"/>
    <p:sldId id="267" r:id="rId7"/>
    <p:sldId id="268" r:id="rId8"/>
    <p:sldId id="272" r:id="rId9"/>
    <p:sldId id="273" r:id="rId10"/>
    <p:sldId id="269" r:id="rId11"/>
    <p:sldId id="274" r:id="rId12"/>
    <p:sldId id="275" r:id="rId13"/>
    <p:sldId id="276" r:id="rId14"/>
    <p:sldId id="277" r:id="rId15"/>
    <p:sldId id="278" r:id="rId16"/>
    <p:sldId id="279" r:id="rId17"/>
    <p:sldId id="270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834"/>
    <p:restoredTop sz="77071"/>
  </p:normalViewPr>
  <p:slideViewPr>
    <p:cSldViewPr snapToGrid="0">
      <p:cViewPr varScale="1">
        <p:scale>
          <a:sx n="85" d="100"/>
          <a:sy n="85" d="100"/>
        </p:scale>
        <p:origin x="9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8E85D-A4D8-F94F-86E4-47A39FDAE5DC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7099B-3C57-7F40-88A8-6AA743645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5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69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1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Cost variable is calculated by taking the mean of the cost of living from each state </a:t>
            </a:r>
          </a:p>
          <a:p>
            <a:r>
              <a:rPr lang="en-US" dirty="0"/>
              <a:t>By comparing this to the transportation cost, we can look at the correlation and see how much of a contributing factor transportation is to the total cost of living </a:t>
            </a:r>
          </a:p>
          <a:p>
            <a:r>
              <a:rPr lang="en-US" dirty="0"/>
              <a:t>Washington DC is a clear outlier in the top left corner with the highest total cost but lowest transportation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27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CD46-A757-E35F-906F-5386217FA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D682E5-FD51-EC9B-CE0E-0DF7AB11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1D746-D9B1-C27F-E48A-703DC3075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Positive Correlation </a:t>
            </a:r>
          </a:p>
          <a:p>
            <a:r>
              <a:rPr lang="en-US" dirty="0"/>
              <a:t>States with higher taxes have a higher cost of childcare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997D1-C307-A462-914C-32F7D0BE7B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68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C75C0-8823-3083-061D-1FECC32E3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611FA-E6BD-ACF5-80A7-A552018DC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1C6C1-AAB9-0E22-4A28-9C6F1A416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Positive Correlation</a:t>
            </a:r>
          </a:p>
          <a:p>
            <a:r>
              <a:rPr lang="en-US" dirty="0"/>
              <a:t>More money you make, the more taxes you pay </a:t>
            </a:r>
          </a:p>
          <a:p>
            <a:endParaRPr lang="en-US" dirty="0"/>
          </a:p>
          <a:p>
            <a:r>
              <a:rPr lang="en-US" dirty="0"/>
              <a:t>DC has the highest income and taxes, similar states have highest of both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37045-1F6C-3757-2B98-51AF40D3F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02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1153-D28A-7B59-AE33-3AF4C724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281E3-88AF-9E26-4938-CA7538805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DFAFA-27D1-F4F6-AC8D-C566FD3EE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positive correlation </a:t>
            </a:r>
          </a:p>
          <a:p>
            <a:r>
              <a:rPr lang="en-US" dirty="0"/>
              <a:t>Graph shows that the more housing cost, the more taxes are paid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2907DB-E179-ACF3-3CBA-63C550E88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117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0E942-BC38-F9F2-7DFB-E7314BBF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C1B5B-C554-B114-888E-E097FF4DF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007BC-A4EC-2EA0-7616-AD2FB90CDB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than District of Columbia, all other counties are in New York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4BC2A-D80A-0211-1760-B0ED1512F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645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9733F-D714-6ED2-83CF-133354656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47ED0D-C653-2E0D-70C8-8387627283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58D5D6-D217-9CEA-7D86-DF12FDE49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than Honolulu County, all counties on chart are either New York or California </a:t>
            </a:r>
          </a:p>
          <a:p>
            <a:r>
              <a:rPr lang="en-US" dirty="0"/>
              <a:t>Soe counties appear on both charts, lines up with the correlation found between childcare cost and taxes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0F5A1-789A-1446-AB60-C85981CC51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35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very clear strong positive correlation between total cost and taxes</a:t>
            </a:r>
          </a:p>
          <a:p>
            <a:r>
              <a:rPr lang="en-US" dirty="0"/>
              <a:t>Tells us that taxes are a strong contributor to the total cost of living in the US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517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37C12-53FD-3AC9-3A3E-47C80847E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CBF4E5-FF5B-2717-6F08-4E18DC75F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CABBED-4F11-A4F1-5C13-E3A9DC80A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not much of a correlation between food cost and taxes</a:t>
            </a:r>
          </a:p>
          <a:p>
            <a:r>
              <a:rPr lang="en-US" dirty="0"/>
              <a:t>But can see through the coloration of the bubbles that the states that are metro have higher taxes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6033D-365B-FA12-3F4B-4691B36C2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7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4AFE4-96CE-7DB5-9AC9-EEA7E4B9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283B29-1246-9C90-43D6-39A7FF85C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777541-AA85-5249-4828-3A05B2E1C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9ACA5-93EE-7997-C7C0-4BD3295EE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823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60714-DF9D-CCF7-99D6-C60803D4A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DE41D-E03C-6393-361C-990EFDD03C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5C02C1-6915-7235-C5B5-67617A257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AAE35-223D-996E-AA6B-32AA7F3CC1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7099B-3C57-7F40-88A8-6AA743645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8C1F-1329-5A85-4B19-D78209178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BC070-4AAC-38DC-9922-3B2463ED4B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FD9250-FD3F-B6D4-3621-CC42D988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DB86-7D8A-F3DC-F8A3-23D1E7DE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58E77-500A-73CD-A028-06A25AC1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27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024A4-D7ED-8FDB-3093-701941E57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2124F-D5D3-611B-546D-A7FD5A1A0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DD74-5B67-B21A-89C6-05E58EEE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3ECBD-F749-CCE0-CDA1-CA07025C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B0AEB-94B2-1A0C-D8DB-D738ED359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71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E02C2-AF44-FDA6-BBAE-579747B7B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EA207-3787-15B6-46CD-06CD7976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AF2F0-C6A6-F573-B5D7-FCC970660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18077-4A09-6B05-AF52-76B2FD8C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95114-B015-CB24-9119-68EC23802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6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08FB-CAF3-22E4-84B1-F18BFC5B1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676A6-61E6-3847-2FE3-2BAD535495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F9F5A9-4C11-FF45-9933-FA28A3BF2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30162-4F21-50F5-20C9-CB31F3BE6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D49D7-DDB6-528D-38D2-506F3C7F7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9C952-B2AC-5038-03BC-512E9495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5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E455B-FCB0-A3D6-DE7D-FAC780FEB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93693-96B4-E248-6F85-63313C998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2492F-A105-4ED1-B0C8-CB1D17192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D4942D-A782-EE83-B8A0-B4191934ED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5423F6-CD99-1017-6CDA-150A3B4A4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03AC6-B5AA-ECF8-669A-57BCA7A35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9393EB-7828-9553-CED8-410FA05F1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F056B8-FBA3-55B2-08F8-D8273C17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658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52D4-651C-1980-AB3D-960BB5E4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5045D-26F9-E241-F7B3-85D35FA4B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51669F-1C0A-2DAE-2877-A943EF19B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52DB7-03AC-1963-1E4D-434E201FC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01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65CFB-D3F2-353B-787E-BC165B64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7E8AA5-76C4-37B8-5916-51C45C7FB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A239C-C71C-D69D-FF3A-0843D4A9E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87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DE77-FA34-903F-D2F7-9FA0D8133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0CE63-A4EA-6378-C7DC-0FB24D9F6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BDFEB-DDBD-55BD-632A-FC50B4D7D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1C881-640F-06AA-7550-927BC9438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81B163-AA51-0563-4E46-7837CE42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A405F-A186-7C90-F5B6-79CBA214D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14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0969-AAAA-B662-AC86-0FB543831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91C023-14B8-06EF-63F0-FD093A80F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DCE4A-5AAA-892A-A294-AC5D584BE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501E5-5781-CA56-9A51-0CA540A86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AD44F-D07B-E635-17F3-360FA7071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94AEC-35F5-81D0-25C5-83DC223F8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91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4FA8-DBAF-20A1-DEEE-34B928C2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9F3C4-C4CB-1EB8-B165-A55308808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9B5C-4DF1-E489-89EB-6D7303371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9F14A-8571-A6BC-F42D-159D1B431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6D443-61F8-49D8-A448-F92AB5A62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098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E4F81F-765C-DC31-D75B-409B42085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85C1C-7407-DAC0-4D94-3867E5CF4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C7CD-B1EC-279C-2D56-73A78D4D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86235-C7DA-2D78-D9C3-F0B9014F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2A5B2-6BA9-573D-8905-A988C3E8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3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6E3FB-34C6-2BCE-F293-07A21E781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BD1DB-6C7B-46F2-6632-78371DB31B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65EA-D73B-79E1-3E89-6FA5E971D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7FD43-F498-654C-951D-8411ABC6976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01BE5-E7E0-A5EB-0602-9A3C078574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060B0-9BFB-0F7A-C17C-DB783FDE4B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A82E80-2842-2349-930A-EA5EE044C1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14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9EA7C-ED06-817F-A2BA-745EDB13F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DATA-380: Final Project 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Cost of Living in the US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9B4CCF-93EF-1DB9-9588-D92A7822B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By: Clark Metz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33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D4B88-1141-C2B0-6472-0CA476D1F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B49D8C1-B3BA-25B9-74F4-288B4A2EC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C08EC5-FD00-33D5-1FB9-DA3EBAA7D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E9765D-4E89-F5A8-A89B-FE85A0FB2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199F8C-9F36-F4A7-6B2E-76341AB6AE28}"/>
              </a:ext>
            </a:extLst>
          </p:cNvPr>
          <p:cNvSpPr txBox="1"/>
          <p:nvPr/>
        </p:nvSpPr>
        <p:spPr>
          <a:xfrm>
            <a:off x="4433194" y="1659285"/>
            <a:ext cx="71187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Cost of Living in the USA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≈ 3100 data points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11 Quantitative Variables (next slide)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4 Categorical Variables (next slide)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 Looks at Income and Expenses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Want to understand how the cost of living varies from state to state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2600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8D97EE-27B4-6526-B913-DC2DEDA62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Variables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F4A117-B6A2-977D-6C86-50C53DE38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632487"/>
              </p:ext>
            </p:extLst>
          </p:nvPr>
        </p:nvGraphicFramePr>
        <p:xfrm>
          <a:off x="4085594" y="961812"/>
          <a:ext cx="7094211" cy="4930993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3608872">
                  <a:extLst>
                    <a:ext uri="{9D8B030D-6E8A-4147-A177-3AD203B41FA5}">
                      <a16:colId xmlns:a16="http://schemas.microsoft.com/office/drawing/2014/main" val="3424016788"/>
                    </a:ext>
                  </a:extLst>
                </a:gridCol>
                <a:gridCol w="3485339">
                  <a:extLst>
                    <a:ext uri="{9D8B030D-6E8A-4147-A177-3AD203B41FA5}">
                      <a16:colId xmlns:a16="http://schemas.microsoft.com/office/drawing/2014/main" val="2102973742"/>
                    </a:ext>
                  </a:extLst>
                </a:gridCol>
              </a:tblGrid>
              <a:tr h="53671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cap="none" spc="0">
                          <a:solidFill>
                            <a:schemeClr val="bg1"/>
                          </a:solidFill>
                          <a:effectLst/>
                        </a:rPr>
                        <a:t>Quantitative Variables</a:t>
                      </a:r>
                      <a:endParaRPr lang="en-US" sz="13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82088" marB="820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100" cap="none" spc="0">
                          <a:solidFill>
                            <a:schemeClr val="bg1"/>
                          </a:solidFill>
                          <a:effectLst/>
                        </a:rPr>
                        <a:t>Categorical Variables</a:t>
                      </a:r>
                      <a:endParaRPr lang="en-US" sz="1300" b="1" kern="100" cap="none" spc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82088" marB="82088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111198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Num_adults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State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143646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Num_children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</a:rPr>
                        <a:t>Family_member_count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752617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</a:rPr>
                        <a:t>isMetro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654576"/>
                  </a:ext>
                </a:extLst>
              </a:tr>
              <a:tr h="402828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Housing_cost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Region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120167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Food_cost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6276533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Transportation_cost</a:t>
                      </a:r>
                      <a:endParaRPr lang="en-US" sz="1100" b="1" kern="100" cap="none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412430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Healthcare_cost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821278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Childcare_cost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838295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Taxes</a:t>
                      </a: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595426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Median_family_income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956269"/>
                  </a:ext>
                </a:extLst>
              </a:tr>
              <a:tr h="397567"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2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Total_family_members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7462" marR="41044" marT="0" marB="820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cap="none" spc="0" dirty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7462" marR="41044" marT="0" marB="820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79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645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0B68C8-A135-5F42-31DB-A1F2CF4C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3C81AC6-65E9-4E6B-1567-C90C78D85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6D31D67-3954-0DAE-69FE-D944CE4BE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193AF7-9994-679E-2317-8744AB5AF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Problem/ Objective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FD728-0E66-3E78-7DE5-39F4570D4E43}"/>
              </a:ext>
            </a:extLst>
          </p:cNvPr>
          <p:cNvSpPr txBox="1"/>
          <p:nvPr/>
        </p:nvSpPr>
        <p:spPr>
          <a:xfrm>
            <a:off x="4433194" y="1659285"/>
            <a:ext cx="711872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- Use the variables in the data to look for trends/patterns that affect cost of living</a:t>
            </a:r>
          </a:p>
          <a:p>
            <a:r>
              <a:rPr lang="en-US" sz="2800" dirty="0"/>
              <a:t>- Create different graphs and charts to visualize trends/patterns </a:t>
            </a:r>
          </a:p>
          <a:p>
            <a:r>
              <a:rPr lang="en-US" sz="2800" dirty="0"/>
              <a:t>      - Bar Charts</a:t>
            </a:r>
          </a:p>
          <a:p>
            <a:r>
              <a:rPr lang="en-US" sz="2800" dirty="0"/>
              <a:t>      - Choropleth Map</a:t>
            </a:r>
          </a:p>
          <a:p>
            <a:r>
              <a:rPr lang="en-US" sz="2800" dirty="0"/>
              <a:t>      - Scatter Plots</a:t>
            </a:r>
          </a:p>
          <a:p>
            <a:r>
              <a:rPr lang="en-US" sz="2800" dirty="0"/>
              <a:t>      - Bubble Plots</a:t>
            </a:r>
          </a:p>
        </p:txBody>
      </p:sp>
    </p:spTree>
    <p:extLst>
      <p:ext uri="{BB962C8B-B14F-4D97-AF65-F5344CB8AC3E}">
        <p14:creationId xmlns:p14="http://schemas.microsoft.com/office/powerpoint/2010/main" val="2589393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ED9E55-1813-F124-8535-A05D193B5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727BD857-CA11-D280-89FF-22ECC3787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47CD0BA-E454-6802-D1F5-A2873BC05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8EDA46-D4E9-CEA6-A75F-A7BE5592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Transportation Cost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Content Placeholder 3" descr="A graph of a number of states&#10;&#10;AI-generated content may be incorrect.">
            <a:extLst>
              <a:ext uri="{FF2B5EF4-FFF2-40B4-BE49-F238E27FC236}">
                <a16:creationId xmlns:a16="http://schemas.microsoft.com/office/drawing/2014/main" id="{02FD678B-E865-400C-1A03-5E2BB56F4C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1" b="5571"/>
          <a:stretch>
            <a:fillRect/>
          </a:stretch>
        </p:blipFill>
        <p:spPr>
          <a:xfrm>
            <a:off x="4051739" y="520262"/>
            <a:ext cx="8017001" cy="36440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94B4AD-90D9-4001-18F1-1A1AD09E6979}"/>
              </a:ext>
            </a:extLst>
          </p:cNvPr>
          <p:cNvSpPr txBox="1"/>
          <p:nvPr/>
        </p:nvSpPr>
        <p:spPr>
          <a:xfrm>
            <a:off x="4866886" y="4772095"/>
            <a:ext cx="27523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 Most Expensive States: Utah, Nevada, California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32E6D6-4E9A-C991-0542-AF539464A63A}"/>
              </a:ext>
            </a:extLst>
          </p:cNvPr>
          <p:cNvSpPr txBox="1"/>
          <p:nvPr/>
        </p:nvSpPr>
        <p:spPr>
          <a:xfrm>
            <a:off x="8605220" y="4772095"/>
            <a:ext cx="23555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 Least Expensive: New Jersey, Arkansas, Washington DC </a:t>
            </a:r>
          </a:p>
        </p:txBody>
      </p:sp>
    </p:spTree>
    <p:extLst>
      <p:ext uri="{BB962C8B-B14F-4D97-AF65-F5344CB8AC3E}">
        <p14:creationId xmlns:p14="http://schemas.microsoft.com/office/powerpoint/2010/main" val="425458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E5B56-B08E-2171-A60D-807813292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1FBC9DA-CCBB-FDE2-468E-3F2A6400C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CAC4D4F-192E-E759-4FA4-A316F5C82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854EC-2B2F-4FF5-0BF0-4C2A0733F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Healthcare Cost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A graph of a number of health care cost&#10;&#10;AI-generated content may be incorrect.">
            <a:extLst>
              <a:ext uri="{FF2B5EF4-FFF2-40B4-BE49-F238E27FC236}">
                <a16:creationId xmlns:a16="http://schemas.microsoft.com/office/drawing/2014/main" id="{14722384-9478-AA00-EBDD-3A11AB41766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650" y="424864"/>
            <a:ext cx="8096350" cy="380165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896604A-A81F-36A1-CD03-6C46CD019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5570" y="4451413"/>
            <a:ext cx="4211052" cy="1155303"/>
          </a:xfrm>
        </p:spPr>
        <p:txBody>
          <a:bodyPr>
            <a:normAutofit/>
          </a:bodyPr>
          <a:lstStyle/>
          <a:p>
            <a:r>
              <a:rPr lang="en-US" sz="2400" dirty="0"/>
              <a:t>Top 3 Most Expensive States: West Virginia, Wyoming, and Nebraska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04EB53-7B4B-4AA6-D8AE-551FB88DE6FA}"/>
              </a:ext>
            </a:extLst>
          </p:cNvPr>
          <p:cNvSpPr txBox="1"/>
          <p:nvPr/>
        </p:nvSpPr>
        <p:spPr>
          <a:xfrm>
            <a:off x="8049127" y="4451413"/>
            <a:ext cx="3950368" cy="1552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2400" dirty="0"/>
              <a:t>Top 3 Least Expensive: New Hampshire, Rhode Island, and Maryland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1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A2FCB-1998-D6A7-8C33-56CB6EF9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3677E34-119B-13CF-5F55-099905F87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C1CC17-4E44-0A96-47EE-E39ABD714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D41684-8692-7B95-78BB-0BEA4E8D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Childcare Cost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 descr="A graph of a childcare cost&#10;&#10;AI-generated content may be incorrect.">
            <a:extLst>
              <a:ext uri="{FF2B5EF4-FFF2-40B4-BE49-F238E27FC236}">
                <a16:creationId xmlns:a16="http://schemas.microsoft.com/office/drawing/2014/main" id="{F886553B-81F5-B3A8-818C-F3582CED80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1738" y="188150"/>
            <a:ext cx="7934498" cy="395818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B68E1E8-01C8-0C67-31E6-D9A42B31C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603" y="4836903"/>
            <a:ext cx="4641465" cy="1477328"/>
          </a:xfrm>
        </p:spPr>
        <p:txBody>
          <a:bodyPr/>
          <a:lstStyle/>
          <a:p>
            <a:r>
              <a:rPr lang="en-US" dirty="0"/>
              <a:t>3 Most Expensive States: Washington DC, New York, Massachusetts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33B027-C90B-B43B-CAB2-8C0256FDDC4D}"/>
              </a:ext>
            </a:extLst>
          </p:cNvPr>
          <p:cNvSpPr txBox="1"/>
          <p:nvPr/>
        </p:nvSpPr>
        <p:spPr>
          <a:xfrm>
            <a:off x="7550536" y="4836903"/>
            <a:ext cx="4641464" cy="164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 States: Louisiana, South Carolina, Mississippi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046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945FF8-EBE4-759A-7BA1-D624CCBC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02B587A-878B-8070-2510-E8C759B1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7D31E3-2A2C-60CC-B492-DB9D671B4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0BA22-0F27-8E7C-82C9-7E348D24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Taxes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45A341-A403-3E90-6183-ABF66452A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603" y="4836903"/>
            <a:ext cx="4641465" cy="1477328"/>
          </a:xfrm>
        </p:spPr>
        <p:txBody>
          <a:bodyPr/>
          <a:lstStyle/>
          <a:p>
            <a:r>
              <a:rPr lang="en-US" dirty="0"/>
              <a:t>3 Most Expensive States: Washington DC, Hawaii, Massachusetts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74013-F4BC-D988-AABC-9A1E288F2E3D}"/>
              </a:ext>
            </a:extLst>
          </p:cNvPr>
          <p:cNvSpPr txBox="1"/>
          <p:nvPr/>
        </p:nvSpPr>
        <p:spPr>
          <a:xfrm>
            <a:off x="7550536" y="4836903"/>
            <a:ext cx="4641464" cy="164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 States: Tennessee, Texas, South Carolina </a:t>
            </a:r>
          </a:p>
          <a:p>
            <a:endParaRPr lang="en-US" dirty="0"/>
          </a:p>
        </p:txBody>
      </p:sp>
      <p:pic>
        <p:nvPicPr>
          <p:cNvPr id="3" name="Picture 2" descr="A graph of a number of tax&#10;&#10;AI-generated content may be incorrect.">
            <a:extLst>
              <a:ext uri="{FF2B5EF4-FFF2-40B4-BE49-F238E27FC236}">
                <a16:creationId xmlns:a16="http://schemas.microsoft.com/office/drawing/2014/main" id="{BA9955B7-E9E4-B629-78C0-C09F09EBB2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03" y="377134"/>
            <a:ext cx="7940587" cy="391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2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D9BEF-FF9C-A8F3-3156-1569343C6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30C328D4-6D45-C02B-C085-986F64E3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385FE9-4965-7C2E-0CB2-D718A39BC8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47961F-FF0A-5A15-8A81-A941AA69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Average Median Family Income by State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A1D568E-4E29-FE7B-E1EC-64E7F7BED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3603" y="4836903"/>
            <a:ext cx="4641465" cy="1477328"/>
          </a:xfrm>
        </p:spPr>
        <p:txBody>
          <a:bodyPr/>
          <a:lstStyle/>
          <a:p>
            <a:r>
              <a:rPr lang="en-US" dirty="0"/>
              <a:t>3 Most Expensive States: Washington DC, New Jersey, Connecticut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A3248-7214-0CE0-90E0-97511F384302}"/>
              </a:ext>
            </a:extLst>
          </p:cNvPr>
          <p:cNvSpPr txBox="1"/>
          <p:nvPr/>
        </p:nvSpPr>
        <p:spPr>
          <a:xfrm>
            <a:off x="7550536" y="4836903"/>
            <a:ext cx="4641464" cy="164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3 Least Expensive States: New Mexico, Arizona, Mississippi</a:t>
            </a:r>
          </a:p>
          <a:p>
            <a:endParaRPr lang="en-US" dirty="0"/>
          </a:p>
        </p:txBody>
      </p:sp>
      <p:pic>
        <p:nvPicPr>
          <p:cNvPr id="4" name="Picture 3" descr="A graph of a number of people&#10;&#10;AI-generated content may be incorrect.">
            <a:extLst>
              <a:ext uri="{FF2B5EF4-FFF2-40B4-BE49-F238E27FC236}">
                <a16:creationId xmlns:a16="http://schemas.microsoft.com/office/drawing/2014/main" id="{50D43BF5-F507-66C0-B67E-4B23B6360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835" y="377135"/>
            <a:ext cx="7879855" cy="365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55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1BBF41-9DF1-12B4-D668-A907FA82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55B87DF-03AA-7F20-60EB-29918B0A0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9BE6B8-9048-A6A3-9589-76EB3CE9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575595-D576-B31E-C02E-10DD0ACF9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Transportation by State (Choropleth)</a:t>
            </a:r>
          </a:p>
        </p:txBody>
      </p:sp>
      <p:pic>
        <p:nvPicPr>
          <p:cNvPr id="8" name="Content Placeholder 3" descr="A map of the united states&#10;&#10;AI-generated content may be incorrect.">
            <a:extLst>
              <a:ext uri="{FF2B5EF4-FFF2-40B4-BE49-F238E27FC236}">
                <a16:creationId xmlns:a16="http://schemas.microsoft.com/office/drawing/2014/main" id="{6F225FA4-9404-4279-A3CD-66796C15D1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7862" y="200687"/>
            <a:ext cx="7995808" cy="6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8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EA4B8-1273-0602-60E3-F15D64E8B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91DB61D-D322-260A-AEAC-81F03FADD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31E538-D8D0-AE20-B628-06753FF72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69441-3E2C-729A-1A00-C923492FE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Cost vs. Transportation Cost by State </a:t>
            </a:r>
          </a:p>
        </p:txBody>
      </p:sp>
      <p:pic>
        <p:nvPicPr>
          <p:cNvPr id="5" name="Picture 4" descr="A graph with numbers and colored dots&#10;&#10;AI-generated content may be incorrect.">
            <a:extLst>
              <a:ext uri="{FF2B5EF4-FFF2-40B4-BE49-F238E27FC236}">
                <a16:creationId xmlns:a16="http://schemas.microsoft.com/office/drawing/2014/main" id="{9FF25F24-83B7-764B-A6B6-A8358244D5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006" y="495500"/>
            <a:ext cx="6682894" cy="586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3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03AEF-C12C-D7FF-1295-785A4FE4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B318635F-80F6-429D-D3DA-59EF344F0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93C19-F81E-EC1B-DFEA-8DEC8DB1A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E0366-BE86-EBE7-47A1-BB95BFE2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Childcare Cost </a:t>
            </a:r>
            <a:r>
              <a:rPr lang="en-US" sz="2600" dirty="0">
                <a:solidFill>
                  <a:srgbClr val="FFFFFF"/>
                </a:solidFill>
              </a:rPr>
              <a:t>vs. Taxes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 descr="A graph with colored dots&#10;&#10;AI-generated content may be incorrect.">
            <a:extLst>
              <a:ext uri="{FF2B5EF4-FFF2-40B4-BE49-F238E27FC236}">
                <a16:creationId xmlns:a16="http://schemas.microsoft.com/office/drawing/2014/main" id="{BF51926F-1317-D3AD-BAFE-5ABB862B1B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6603" y="750699"/>
            <a:ext cx="6259699" cy="570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161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A106C-3FFA-4ADF-AB00-4326CA776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5379E3D-7461-44AD-C384-3C6CF1110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7098167-E2AD-E49D-C023-124AF9545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DFB3D-AEA4-484B-C8D8-236C54C1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Median Family Income vs. Taxes </a:t>
            </a:r>
          </a:p>
        </p:txBody>
      </p:sp>
      <p:pic>
        <p:nvPicPr>
          <p:cNvPr id="4" name="Picture 3" descr="A graph with colorful dots&#10;&#10;AI-generated content may be incorrect.">
            <a:extLst>
              <a:ext uri="{FF2B5EF4-FFF2-40B4-BE49-F238E27FC236}">
                <a16:creationId xmlns:a16="http://schemas.microsoft.com/office/drawing/2014/main" id="{AABD8A0B-9EEC-71BD-7B31-3EEFAD3211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7828" y="470387"/>
            <a:ext cx="6584093" cy="59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850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3B6C33-3092-6E97-EBDE-EB33475C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EF6954A-B219-8570-57E0-381613116D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4715A1-FC89-6547-FE56-356FB0DAB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B610F-DDF3-6F9B-EBD9-A712E1CE7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Housing Cost vs Taxes</a:t>
            </a:r>
          </a:p>
        </p:txBody>
      </p:sp>
      <p:pic>
        <p:nvPicPr>
          <p:cNvPr id="3" name="Picture 2" descr="A graph with colored dots&#10;&#10;AI-generated content may be incorrect.">
            <a:extLst>
              <a:ext uri="{FF2B5EF4-FFF2-40B4-BE49-F238E27FC236}">
                <a16:creationId xmlns:a16="http://schemas.microsoft.com/office/drawing/2014/main" id="{82E42445-A609-E7A5-D17C-7CF75FB893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62" y="362385"/>
            <a:ext cx="6190067" cy="573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557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4E0D2-D322-D68B-3248-E5EC968F6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A6C4FB57-246D-BC7F-38DB-D15423D04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66C340-08F8-84F0-D2B7-E697A5166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5B1F04-8033-B7BF-0F19-B550E9910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Expensive Counties for Childcare</a:t>
            </a:r>
          </a:p>
        </p:txBody>
      </p:sp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5EE7C01-5C8F-6A08-16DD-7BD50DFA3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5375" y="538622"/>
            <a:ext cx="4491442" cy="578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6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693D80-46AD-7D72-AF4E-B64B2269B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7FD25DB-7C7B-5E63-C393-134B9CECF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782E20-EB89-0C3D-0331-4118C365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800050-AB66-0E0F-4271-37B89E082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Most Expensive Counties for Taxes</a:t>
            </a:r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93938941-B546-596F-495C-52592E9999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722" y="321551"/>
            <a:ext cx="4555462" cy="621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448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AA860-0569-DEE5-CB06-7CAB64E2F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D16AA11D-049E-9121-4945-D84A171F39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4721DC-EFD2-AE68-CC66-37CF3602D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6DA31-5C3B-FD8E-7CED-793F1B7A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Correlation Matrix (Quantitative Variables)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3FC53A3A-AD0A-F441-879E-7DA1473781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994" y="365215"/>
            <a:ext cx="7404918" cy="612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53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79126-B344-B478-DF29-B17CE709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C7D61046-9B46-70B6-9F3D-CDCA8ADB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7912B2-7230-5CBD-7FE6-7F0B97D7F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2B868-6B73-481B-7C05-A49E4995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Total Cost vs Taxes </a:t>
            </a:r>
          </a:p>
        </p:txBody>
      </p:sp>
      <p:pic>
        <p:nvPicPr>
          <p:cNvPr id="6" name="Picture 5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CE1CBB84-7299-EC23-153B-1015E4CAD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464" y="709886"/>
            <a:ext cx="8151015" cy="538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36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46E27-E4FD-FEF5-A9F2-20539B0D3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4A82193-C016-CE46-B5BC-D7A91FBA6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5D16D70-4777-D248-BEA3-6B3577D6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F63DDC-5CE1-8086-EEB9-31C058ED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Food Cost vs Taxes (Colored by </a:t>
            </a:r>
            <a:r>
              <a:rPr lang="en-US" sz="2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isMetro</a:t>
            </a: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pic>
        <p:nvPicPr>
          <p:cNvPr id="3" name="Picture 2" descr="A graph showing a diagram of tax&#10;&#10;AI-generated content may be incorrect.">
            <a:extLst>
              <a:ext uri="{FF2B5EF4-FFF2-40B4-BE49-F238E27FC236}">
                <a16:creationId xmlns:a16="http://schemas.microsoft.com/office/drawing/2014/main" id="{DBDA395E-0509-C547-D804-0ED9C99ED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985" y="1139047"/>
            <a:ext cx="7072745" cy="457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873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304ED-E8BF-AB85-6978-13339EEB5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2E75C40D-B5B7-C7FE-3422-B252E5B2D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E672307-7EBD-8539-D07D-E36A30CCF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309BA4-FD75-E0F4-FC6E-A13E0FAED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New Findings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B24B8-ECED-3EF0-2EFA-1C098BBD1FAA}"/>
              </a:ext>
            </a:extLst>
          </p:cNvPr>
          <p:cNvSpPr txBox="1"/>
          <p:nvPr/>
        </p:nvSpPr>
        <p:spPr>
          <a:xfrm>
            <a:off x="4239491" y="1440873"/>
            <a:ext cx="731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1A84F1-3633-7464-9450-B358F43AD116}"/>
              </a:ext>
            </a:extLst>
          </p:cNvPr>
          <p:cNvSpPr txBox="1"/>
          <p:nvPr/>
        </p:nvSpPr>
        <p:spPr>
          <a:xfrm>
            <a:off x="4520985" y="2308584"/>
            <a:ext cx="628556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Taxes have the most impact on the total cost of living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 Washington DC stands out as having the highest average income but also the highest cost of living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Transportation cost goes down farther east  in the US</a:t>
            </a:r>
          </a:p>
        </p:txBody>
      </p:sp>
    </p:spTree>
    <p:extLst>
      <p:ext uri="{BB962C8B-B14F-4D97-AF65-F5344CB8AC3E}">
        <p14:creationId xmlns:p14="http://schemas.microsoft.com/office/powerpoint/2010/main" val="2888919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14207-B672-CF35-47FD-8BA36A215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17DFD4E6-5AA4-98A2-B5A5-AB34F3900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5FD381-0B03-8542-E351-C937DF141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C7BB9F-0A52-3609-1674-5F8A6F89E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74363"/>
            <a:ext cx="3240827" cy="3061923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</a:rPr>
              <a:t>Conclusion 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538BA-FF32-AF17-7EA4-2CCE43DBA50A}"/>
              </a:ext>
            </a:extLst>
          </p:cNvPr>
          <p:cNvSpPr txBox="1"/>
          <p:nvPr/>
        </p:nvSpPr>
        <p:spPr>
          <a:xfrm>
            <a:off x="4239491" y="1440873"/>
            <a:ext cx="731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DBEB10-E1FB-8ACB-E87D-5E454F0E73F1}"/>
              </a:ext>
            </a:extLst>
          </p:cNvPr>
          <p:cNvSpPr txBox="1"/>
          <p:nvPr/>
        </p:nvSpPr>
        <p:spPr>
          <a:xfrm>
            <a:off x="5168316" y="1810205"/>
            <a:ext cx="62855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dirty="0"/>
              <a:t>Several factors affect the cost of living in the US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Varies state by state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Can’t narrow down the cost of living to one variable </a:t>
            </a:r>
          </a:p>
          <a:p>
            <a:pPr marL="285750" indent="-285750">
              <a:buFontTx/>
              <a:buChar char="-"/>
            </a:pPr>
            <a:r>
              <a:rPr lang="en-US" sz="2800" dirty="0"/>
              <a:t>Numerous outside factors that can not be quantified that affect cost of living </a:t>
            </a:r>
          </a:p>
          <a:p>
            <a:pPr marL="285750" indent="-285750">
              <a:buFontTx/>
              <a:buChar char="-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75243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7084</TotalTime>
  <Words>669</Words>
  <Application>Microsoft Macintosh PowerPoint</Application>
  <PresentationFormat>Widescreen</PresentationFormat>
  <Paragraphs>100</Paragraphs>
  <Slides>21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DATA-380: Final Project  Cost of Living in the US </vt:lpstr>
      <vt:lpstr> Dataset</vt:lpstr>
      <vt:lpstr>Variables </vt:lpstr>
      <vt:lpstr> Problem/ Objective</vt:lpstr>
      <vt:lpstr>Transportation Cost by State</vt:lpstr>
      <vt:lpstr>Healthcare Cost by State</vt:lpstr>
      <vt:lpstr>Childcare Cost by State</vt:lpstr>
      <vt:lpstr>Taxes by State</vt:lpstr>
      <vt:lpstr>Average Median Family Income by State</vt:lpstr>
      <vt:lpstr>Transportation by State (Choropleth)</vt:lpstr>
      <vt:lpstr>Total Cost vs. Transportation Cost by State </vt:lpstr>
      <vt:lpstr>Childcare Cost vs. Taxes</vt:lpstr>
      <vt:lpstr>Median Family Income vs. Taxes </vt:lpstr>
      <vt:lpstr>Housing Cost vs Taxes</vt:lpstr>
      <vt:lpstr>Most Expensive Counties for Childcare</vt:lpstr>
      <vt:lpstr>Most Expensive Counties for Taxes</vt:lpstr>
      <vt:lpstr>Correlation Matrix (Quantitative Variables)</vt:lpstr>
      <vt:lpstr>Total Cost vs Taxes </vt:lpstr>
      <vt:lpstr>Food Cost vs Taxes (Colored by isMetro)</vt:lpstr>
      <vt:lpstr>New Findings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Clark D Metz</dc:creator>
  <cp:lastModifiedBy>Clark D Metz</cp:lastModifiedBy>
  <cp:revision>7</cp:revision>
  <dcterms:created xsi:type="dcterms:W3CDTF">2026-04-23T15:17:36Z</dcterms:created>
  <dcterms:modified xsi:type="dcterms:W3CDTF">2026-04-30T14:32:49Z</dcterms:modified>
</cp:coreProperties>
</file>